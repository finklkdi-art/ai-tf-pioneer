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>
                <a:latin typeface="Sandoll Gothic Neo1 B"/>
              </a:defRPr>
            </a:pPr>
            <a:r>
              <a:t>AI TF - pioneer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200">
                <a:latin typeface="Sandoll Gothic Neo1 M"/>
              </a:defRPr>
            </a:pPr>
            <a:r>
              <a:t>AE 업무 자동화를 위한 견적/증빙 통합 솔루션 로드맵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0A2864"/>
                </a:solidFill>
                <a:latin typeface="Sandoll Gothic Neo1 B"/>
              </a:defRPr>
            </a:pPr>
            <a:r>
              <a:t>PROJECT MILESTONE: AE WORKFLOW AUTOMATION</a:t>
            </a:r>
          </a:p>
        </p:txBody>
      </p:sp>
      <p:sp>
        <p:nvSpPr>
          <p:cNvPr id="3" name="Right Arrow 2"/>
          <p:cNvSpPr/>
          <p:nvPr/>
        </p:nvSpPr>
        <p:spPr>
          <a:xfrm>
            <a:off x="182880" y="2926080"/>
            <a:ext cx="8778240" cy="1097280"/>
          </a:xfrm>
          <a:prstGeom prst="rightArrow">
            <a:avLst/>
          </a:prstGeom>
          <a:solidFill>
            <a:srgbClr val="E6F0FA"/>
          </a:solidFill>
          <a:ln>
            <a:solidFill>
              <a:srgbClr val="649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9688"/>
                </a:solidFill>
                <a:latin typeface="Sandoll Gothic Neo1 B"/>
              </a:defRPr>
            </a:pPr>
            <a:r>
              <a:t>[PHASE 0] AE Voice 웹 설문 조사</a:t>
            </a:r>
          </a:p>
          <a:p>
            <a:pPr>
              <a:defRPr sz="1000">
                <a:latin typeface="Sandoll Gothic Neo1 M"/>
              </a:defRPr>
            </a:pPr>
            <a:r>
              <a:t>Due: 2026-04-23</a:t>
            </a:r>
          </a:p>
          <a:p>
            <a:pPr>
              <a:defRPr sz="900">
                <a:latin typeface="Sandoll Gothic Neo1 L"/>
              </a:defRPr>
            </a:pPr>
            <a:r>
              <a:t>전사 AE 대상 웹 설문을 통한 업무 프로세스 전수 조사 및 핵심 Pain Point 정량화.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20624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latin typeface="Sandoll Gothic Neo1 M"/>
              </a:defRPr>
            </a:pPr>
            <a:r>
              <a:t>Key Tasks:</a:t>
            </a:r>
          </a:p>
          <a:p>
            <a:pPr>
              <a:defRPr sz="850">
                <a:latin typeface="Sandoll Gothic Neo1 L"/>
              </a:defRPr>
            </a:pPr>
            <a:r>
              <a:t>• Google Forms/Typeform 활용 웹 설문 설계 및 배포</a:t>
            </a:r>
          </a:p>
          <a:p>
            <a:pPr>
              <a:defRPr sz="850">
                <a:latin typeface="Sandoll Gothic Neo1 L"/>
              </a:defRPr>
            </a:pPr>
            <a:r>
              <a:t>• 견적 관련 예외 상황(Edge Case) 데이터 수집</a:t>
            </a:r>
          </a:p>
          <a:p>
            <a:pPr>
              <a:defRPr sz="850">
                <a:latin typeface="Sandoll Gothic Neo1 L"/>
              </a:defRPr>
            </a:pPr>
            <a:r>
              <a:t>• 설문 결과 분석을 통한 기능 우선순위(Backlog) 도출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60320"/>
            <a:ext cx="9144" cy="365760"/>
          </a:xfrm>
          <a:prstGeom prst="rect">
            <a:avLst/>
          </a:prstGeom>
          <a:noFill/>
          <a:ln w="19050">
            <a:solidFill>
              <a:srgbClr val="009688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468879" y="109728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3A9F4"/>
                </a:solidFill>
                <a:latin typeface="Sandoll Gothic Neo1 B"/>
              </a:defRPr>
            </a:pPr>
            <a:r>
              <a:t>[PHASE 1] 멀티 포맷 파서(Parser) 구축</a:t>
            </a:r>
          </a:p>
          <a:p>
            <a:pPr>
              <a:defRPr sz="1000">
                <a:latin typeface="Sandoll Gothic Neo1 M"/>
              </a:defRPr>
            </a:pPr>
            <a:r>
              <a:t>Due: 2026-04-30</a:t>
            </a:r>
          </a:p>
          <a:p>
            <a:pPr>
              <a:defRPr sz="900">
                <a:latin typeface="Sandoll Gothic Neo1 L"/>
              </a:defRPr>
            </a:pPr>
            <a:r>
              <a:t>엑셀, PDF, 이미지(JPG), HWP 등 파편화된 외부 견적 데이터를 하나의 규격으로 통합.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79" y="420624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latin typeface="Sandoll Gothic Neo1 M"/>
              </a:defRPr>
            </a:pPr>
            <a:r>
              <a:t>Key Tasks:</a:t>
            </a:r>
          </a:p>
          <a:p>
            <a:pPr>
              <a:defRPr sz="850">
                <a:latin typeface="Sandoll Gothic Neo1 L"/>
              </a:defRPr>
            </a:pPr>
            <a:r>
              <a:t>• 멀티 포맷(Excel/PDF/IMG/HWP) 대응 파싱 로직</a:t>
            </a:r>
          </a:p>
          <a:p>
            <a:pPr>
              <a:defRPr sz="850">
                <a:latin typeface="Sandoll Gothic Neo1 L"/>
              </a:defRPr>
            </a:pPr>
            <a:r>
              <a:t>• 지능형 텍스트 추출(OCR) 엔진 연동</a:t>
            </a:r>
          </a:p>
          <a:p>
            <a:pPr>
              <a:defRPr sz="850">
                <a:latin typeface="Sandoll Gothic Neo1 L"/>
              </a:defRPr>
            </a:pPr>
            <a:r>
              <a:t>• 외주비 데이터 표준화 및 정제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19" y="2560320"/>
            <a:ext cx="9144" cy="365760"/>
          </a:xfrm>
          <a:prstGeom prst="rect">
            <a:avLst/>
          </a:prstGeom>
          <a:noFill/>
          <a:ln w="19050">
            <a:solidFill>
              <a:srgbClr val="03A9F4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63440" y="109728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73AB7"/>
                </a:solidFill>
                <a:latin typeface="Sandoll Gothic Neo1 B"/>
              </a:defRPr>
            </a:pPr>
            <a:r>
              <a:t>[PHASE 2] 엑셀 기반 다이나믹 리포팅</a:t>
            </a:r>
          </a:p>
          <a:p>
            <a:pPr>
              <a:defRPr sz="1000">
                <a:latin typeface="Sandoll Gothic Neo1 M"/>
              </a:defRPr>
            </a:pPr>
            <a:r>
              <a:t>Due: 2026-05-07</a:t>
            </a:r>
          </a:p>
          <a:p>
            <a:pPr>
              <a:defRPr sz="900">
                <a:latin typeface="Sandoll Gothic Neo1 L"/>
              </a:defRPr>
            </a:pPr>
            <a:r>
              <a:t>클라이언트별 맞춤형 옵션 적용 및 증빙 이미지의 엑셀 내 동적 자동 배치 구현.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20624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latin typeface="Sandoll Gothic Neo1 M"/>
              </a:defRPr>
            </a:pPr>
            <a:r>
              <a:t>Key Tasks:</a:t>
            </a:r>
          </a:p>
          <a:p>
            <a:pPr>
              <a:defRPr sz="850">
                <a:latin typeface="Sandoll Gothic Neo1 L"/>
              </a:defRPr>
            </a:pPr>
            <a:r>
              <a:t>• 증빙 이미지 저용량 최적화 프로세스</a:t>
            </a:r>
          </a:p>
          <a:p>
            <a:pPr>
              <a:defRPr sz="850">
                <a:latin typeface="Sandoll Gothic Neo1 L"/>
              </a:defRPr>
            </a:pPr>
            <a:r>
              <a:t>• XlsxWriter 기반 엑셀 내 위치/크기 자동 지정</a:t>
            </a:r>
          </a:p>
          <a:p>
            <a:pPr>
              <a:defRPr sz="850">
                <a:latin typeface="Sandoll Gothic Neo1 L"/>
              </a:defRPr>
            </a:pPr>
            <a:r>
              <a:t>• 광고주별 증빙 유무/포맷 선택 옵션 개발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560320"/>
            <a:ext cx="9144" cy="365760"/>
          </a:xfrm>
          <a:prstGeom prst="rect">
            <a:avLst/>
          </a:prstGeom>
          <a:noFill/>
          <a:ln w="19050">
            <a:solidFill>
              <a:srgbClr val="673AB7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7999" y="109728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F51B5"/>
                </a:solidFill>
                <a:latin typeface="Sandoll Gothic Neo1 B"/>
              </a:defRPr>
            </a:pPr>
            <a:r>
              <a:t>[PHASE 3&amp;4] 통합 배포 및 분석 대시보드</a:t>
            </a:r>
          </a:p>
          <a:p>
            <a:pPr>
              <a:defRPr sz="1000">
                <a:latin typeface="Sandoll Gothic Neo1 M"/>
              </a:defRPr>
            </a:pPr>
            <a:r>
              <a:t>Due: 2026-05-21</a:t>
            </a:r>
          </a:p>
          <a:p>
            <a:pPr>
              <a:defRPr sz="900">
                <a:latin typeface="Sandoll Gothic Neo1 L"/>
              </a:defRPr>
            </a:pPr>
            <a:r>
              <a:t>웹 환경 배포 및 과거 데이터 비교를 통한 수익성 관리 대시보드 구축.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7999" y="420624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latin typeface="Sandoll Gothic Neo1 M"/>
              </a:defRPr>
            </a:pPr>
            <a:r>
              <a:t>Key Tasks:</a:t>
            </a:r>
          </a:p>
          <a:p>
            <a:pPr>
              <a:defRPr sz="850">
                <a:latin typeface="Sandoll Gothic Neo1 L"/>
              </a:defRPr>
            </a:pPr>
            <a:r>
              <a:t>• Streamlit 기반 전사 웹 솔루션 배포</a:t>
            </a:r>
          </a:p>
          <a:p>
            <a:pPr>
              <a:defRPr sz="850">
                <a:latin typeface="Sandoll Gothic Neo1 L"/>
              </a:defRPr>
            </a:pPr>
            <a:r>
              <a:t>• 견적 히스토리 추적 및 유사 캠페인 단가 비교</a:t>
            </a:r>
          </a:p>
          <a:p>
            <a:pPr>
              <a:defRPr sz="850">
                <a:latin typeface="Sandoll Gothic Neo1 L"/>
              </a:defRPr>
            </a:pPr>
            <a:r>
              <a:t>• 외주비 세이브율 및 정산 현황 시각화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39" y="2560320"/>
            <a:ext cx="9144" cy="36576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